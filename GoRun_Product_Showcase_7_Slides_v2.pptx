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meeting transcript (source for product intent, requirements, examples, and future ideas).
- https://santoshmc.github.io/gorun/ (deployment URL supplied by user).
- https://github.com/santoshmc/gorun (repository URL supplied by user).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meeting transcript (source for product intent, requirements, examples, and future ideas).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meeting transcript (source for product intent, requirements, examples, and future ideas).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meeting transcript (source for product intent, requirements, examples, and future ideas).
- Calculations on this slide are derived from the transcript's 100 km/month and 4–5 day planning example; the four-week month is explicitly illustrative.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meeting transcript (source for product intent, requirements, examples, and future ideas).
- https://santoshmc.github.io/gorun/ (deployment URL supplied by user; source-declared artifact).
- https://github.com/santoshmc/gorun (repository URL supplied by user; source-declared artifact).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meeting transcript (source for product intent, requirements, examples, and future ideas).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meeting transcript (source for product intent, requirements, examples, and future ideas).
- https://santoshmc.github.io/gorun/ (deployment URL supplied by user).
- https://github.com/santoshmc/gorun (repository URL supplied by user).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ORUN_BASE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7F34A"/>
          </a:solidFill>
          <a:ln w="12700">
            <a:solidFill>
              <a:srgbClr val="B7F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5566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RUN / PRODUCT SHOWCASE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48640" y="6327648"/>
            <a:ext cx="11091672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https://santoshmc.github.io/gorun/" TargetMode="External"/><Relationship Id="rId2" Type="http://schemas.openxmlformats.org/officeDocument/2006/relationships/hyperlink" Target="https://github.com/santoshmc/goru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https://santoshmc.github.io/gorun/" TargetMode="External"/><Relationship Id="rId2" Type="http://schemas.openxmlformats.org/officeDocument/2006/relationships/hyperlink" Target="https://github.com/santoshmc/gorun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https://santoshmc.github.io/gorun/" TargetMode="External"/><Relationship Id="rId2" Type="http://schemas.openxmlformats.org/officeDocument/2006/relationships/hyperlink" Target="https://github.com/santoshmc/goru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7F34A"/>
          </a:solidFill>
          <a:ln w="12700">
            <a:solidFill>
              <a:srgbClr val="B7F34A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5486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B7F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RUN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78992"/>
            <a:ext cx="6949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running goal</a:t>
            </a:r>
            <a:endParaRPr lang="en-US" sz="3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running habit.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688336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sz="1300">
                <a:solidFill>
                  <a:srgbClr val="D0D5DD"/>
                </a:solidFill>
                <a:latin typeface="Inter"/>
              </a:rPr>
              <a:t>Conceived during PALO IT’s two-day Gen-e2 training program, GoRun turned a running-goal idea into a deployed responsive web MVP.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93608" y="877824"/>
            <a:ext cx="2788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0" b="1" dirty="0">
                <a:solidFill>
                  <a:srgbClr val="B7F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6800" dirty="0"/>
          </a:p>
        </p:txBody>
      </p:sp>
      <p:sp>
        <p:nvSpPr>
          <p:cNvPr id="7" name="Text 5"/>
          <p:cNvSpPr txBox="1"/>
          <p:nvPr/>
        </p:nvSpPr>
        <p:spPr>
          <a:xfrm>
            <a:off x="8394192" y="217627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13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KM / MONTH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36992" y="2596896"/>
            <a:ext cx="3136392" cy="0"/>
          </a:xfrm>
          <a:prstGeom prst="line">
            <a:avLst/>
          </a:prstGeom>
          <a:noFill/>
          <a:ln w="13970">
            <a:solidFill>
              <a:srgbClr val="475467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7991856" y="2926080"/>
            <a:ext cx="310896" cy="310896"/>
          </a:xfrm>
          <a:prstGeom prst="ellipse">
            <a:avLst/>
          </a:prstGeom>
          <a:solidFill>
            <a:srgbClr val="233047"/>
          </a:solidFill>
          <a:ln w="12700">
            <a:solidFill>
              <a:srgbClr val="233047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91856" y="293522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430768" y="290779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582912" y="2907792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meaningful target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47304" y="3236976"/>
            <a:ext cx="0" cy="356616"/>
          </a:xfrm>
          <a:prstGeom prst="line">
            <a:avLst/>
          </a:prstGeom>
          <a:noFill/>
          <a:ln w="15240">
            <a:solidFill>
              <a:srgbClr val="475467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991856" y="3584448"/>
            <a:ext cx="310896" cy="310896"/>
          </a:xfrm>
          <a:prstGeom prst="ellipse">
            <a:avLst/>
          </a:prstGeom>
          <a:solidFill>
            <a:srgbClr val="233047"/>
          </a:solidFill>
          <a:ln w="12700">
            <a:solidFill>
              <a:srgbClr val="233047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91856" y="35935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8430768" y="356616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582912" y="356616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repeatable routine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47304" y="3895344"/>
            <a:ext cx="0" cy="356616"/>
          </a:xfrm>
          <a:prstGeom prst="line">
            <a:avLst/>
          </a:prstGeom>
          <a:noFill/>
          <a:ln w="15240">
            <a:solidFill>
              <a:srgbClr val="475467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991856" y="4242816"/>
            <a:ext cx="310896" cy="310896"/>
          </a:xfrm>
          <a:prstGeom prst="ellipse">
            <a:avLst/>
          </a:prstGeom>
          <a:solidFill>
            <a:srgbClr val="233047"/>
          </a:solidFill>
          <a:ln w="12700">
            <a:solidFill>
              <a:srgbClr val="23304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91856" y="42519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430768" y="422452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582912" y="4224528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actually happened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47304" y="4553712"/>
            <a:ext cx="0" cy="356616"/>
          </a:xfrm>
          <a:prstGeom prst="line">
            <a:avLst/>
          </a:prstGeom>
          <a:noFill/>
          <a:ln w="15240">
            <a:solidFill>
              <a:srgbClr val="475467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7991856" y="4901184"/>
            <a:ext cx="310896" cy="310896"/>
          </a:xfrm>
          <a:prstGeom prst="ellipse">
            <a:avLst/>
          </a:prstGeom>
          <a:solidFill>
            <a:srgbClr val="B7F34A"/>
          </a:solidFill>
          <a:ln w="12700">
            <a:solidFill>
              <a:srgbClr val="B7F34A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91856" y="491032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8430768" y="488289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582912" y="488289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toward the month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50292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60" kern="0" dirty="0">
                <a:solidFill>
                  <a:srgbClr val="B7F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DEPLOYED PROTOTYPE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58368" y="5303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D0D5DD"/>
                </a:solidFill>
                <a:uFill>
                  <a:solidFill>
                    <a:srgbClr val="D0D5DD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santoshmc.github.io/gorun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187952" y="50292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60" kern="0" dirty="0">
                <a:solidFill>
                  <a:srgbClr val="B7F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REPOSITORY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87952" y="53035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D0D5DD"/>
                </a:solidFill>
                <a:uFill>
                  <a:solidFill>
                    <a:srgbClr val="D0D5DD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github.com/santoshmc/gorun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0625328" y="62636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0" kern="0" dirty="0">
                <a:solidFill>
                  <a:srgbClr val="0E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WHY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running target is simple. Executing it consistently is not.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original discussion started with a basic user need: turn an ambition such as “100 km this month” into a plan someone can actually follow.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907792" cy="34930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176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B7F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4203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56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KM / MONTH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822192"/>
            <a:ext cx="2331720" cy="0"/>
          </a:xfrm>
          <a:prstGeom prst="line">
            <a:avLst/>
          </a:prstGeom>
          <a:noFill/>
          <a:ln w="12700">
            <a:solidFill>
              <a:srgbClr val="475467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 txBox="1"/>
          <p:nvPr/>
        </p:nvSpPr>
        <p:spPr>
          <a:xfrm>
            <a:off x="822960" y="409651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destination.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Unclear execution.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58768" y="1920240"/>
            <a:ext cx="3419856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96512" y="20848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0482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many days?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3134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or 5 days a week?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3858768" y="2971800"/>
            <a:ext cx="3419856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96512" y="313639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590288" y="30998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much today?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90288" y="336499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km, 6 km — or something else?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3858768" y="4023360"/>
            <a:ext cx="3419856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96512" y="4187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90288" y="415137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if I miss?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90288" y="44165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does the plan recover?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7644384" y="1874520"/>
            <a:ext cx="3913632" cy="34930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36992" y="215798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60" kern="0" dirty="0">
                <a:solidFill>
                  <a:srgbClr val="0E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PRODUCT OPPORTUNITY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936992" y="2633472"/>
            <a:ext cx="30815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Bridge the gap between</a:t>
            </a:r>
            <a:endParaRPr lang="en-US" sz="2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and habit.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936992" y="3547872"/>
            <a:ext cx="2907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GoRun was conceived as a mentor-like companion: plan the work, measure what happened, and keep the user moving toward the goal.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36992" y="4754880"/>
            <a:ext cx="2926080" cy="402336"/>
          </a:xfrm>
          <a:prstGeom prst="roundRect">
            <a:avLst/>
          </a:prstGeom>
          <a:solidFill>
            <a:srgbClr val="B7F34A"/>
          </a:solidFill>
          <a:ln w="12700">
            <a:solidFill>
              <a:srgbClr val="B7F34A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65008" y="482803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 → PLAN → ROUTINE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469880" y="64190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02/07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0" kern="0" dirty="0">
                <a:solidFill>
                  <a:srgbClr val="0E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PRODUCT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GoRun turns the monthly goal into a closed loop of action and feedback.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proposition is not just to record a run — it is to help the user decide what to do, understand progress, and stay motivated.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066544"/>
            <a:ext cx="184708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9424"/>
            <a:ext cx="402336" cy="40233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29514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5292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46120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 distance target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time horizon.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3172968"/>
            <a:ext cx="310896" cy="0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07792" y="2066544"/>
            <a:ext cx="184708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72384" y="2249424"/>
            <a:ext cx="402336" cy="40233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72384" y="229514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072384" y="285292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72384" y="3246120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 the goal into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weekly / daily routine.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91456" y="3172968"/>
            <a:ext cx="310896" cy="0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57216" y="2066544"/>
            <a:ext cx="184708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21808" y="2249424"/>
            <a:ext cx="402336" cy="40233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21808" y="229514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5321808" y="285292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21808" y="3246120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or import the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completed.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3172968"/>
            <a:ext cx="310896" cy="0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06640" y="2066544"/>
            <a:ext cx="184708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71232" y="2249424"/>
            <a:ext cx="402336" cy="40233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71232" y="229514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7571232" y="285292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571232" y="3246120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actual progress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against the plan.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290304" y="3172968"/>
            <a:ext cx="310896" cy="0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56064" y="2066544"/>
            <a:ext cx="1847088" cy="2240280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20656" y="2249424"/>
            <a:ext cx="402336" cy="402336"/>
          </a:xfrm>
          <a:prstGeom prst="ellipse">
            <a:avLst/>
          </a:prstGeom>
          <a:solidFill>
            <a:srgbClr val="B7F34A"/>
          </a:solidFill>
          <a:ln w="12700">
            <a:solidFill>
              <a:srgbClr val="B7F34A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20656" y="229514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9820656" y="285292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820656" y="3246120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streaks, milestones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sharing to keep going.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47183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60" kern="0" dirty="0">
                <a:solidFill>
                  <a:srgbClr val="0E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 DISCUSSED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8368" y="5074920"/>
            <a:ext cx="1956816" cy="4754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68096" y="51755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 / watch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889504" y="5074920"/>
            <a:ext cx="1956816" cy="4754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999232" y="51755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Health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120640" y="5074920"/>
            <a:ext cx="1956816" cy="4754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230368" y="51755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/ Fitbit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351776" y="5074920"/>
            <a:ext cx="1956816" cy="4754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461504" y="51755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Strava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582912" y="5074920"/>
            <a:ext cx="1956816" cy="4754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692640" y="51755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correction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658368" y="569671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 metrics included distance, time, pace, speed and stride-related data; run/walk classification could be corrected by the user.</a:t>
            </a:r>
            <a:endParaRPr lang="en-US" sz="940" dirty="0"/>
          </a:p>
        </p:txBody>
      </p:sp>
      <p:sp>
        <p:nvSpPr>
          <p:cNvPr id="46" name="Text 44"/>
          <p:cNvSpPr txBox="1"/>
          <p:nvPr/>
        </p:nvSpPr>
        <p:spPr>
          <a:xfrm>
            <a:off x="10469880" y="64190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03/07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0" kern="0" dirty="0">
                <a:solidFill>
                  <a:srgbClr val="0E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EXPERIENCE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user chooses the commitment. GoRun makes the commitment executable.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simple planning example shows the behaviour the product is meant to enable — turning one monthly goal into a practical weekly routine.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4572000" cy="39136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488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80" kern="0" dirty="0">
                <a:solidFill>
                  <a:srgbClr val="B7F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PLAN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km / month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127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25 km / week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5295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assuming a four-week planning view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41248" y="3895344"/>
            <a:ext cx="3493008" cy="0"/>
          </a:xfrm>
          <a:prstGeom prst="line">
            <a:avLst/>
          </a:prstGeom>
          <a:noFill/>
          <a:ln w="12700">
            <a:solidFill>
              <a:srgbClr val="475467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 txBox="1"/>
          <p:nvPr/>
        </p:nvSpPr>
        <p:spPr>
          <a:xfrm>
            <a:off x="841248" y="41513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80" kern="0" dirty="0">
                <a:solidFill>
                  <a:srgbClr val="B7F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 ROUTINE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41248" y="4489704"/>
            <a:ext cx="1572768" cy="804672"/>
          </a:xfrm>
          <a:prstGeom prst="roundRect">
            <a:avLst/>
          </a:prstGeom>
          <a:solidFill>
            <a:srgbClr val="233047"/>
          </a:solidFill>
          <a:ln w="12700">
            <a:solidFill>
              <a:srgbClr val="233047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6696" y="462686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DAYS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96696" y="49194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0D5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km / day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96896" y="4489704"/>
            <a:ext cx="1572768" cy="804672"/>
          </a:xfrm>
          <a:prstGeom prst="roundRect">
            <a:avLst/>
          </a:prstGeom>
          <a:solidFill>
            <a:srgbClr val="233047"/>
          </a:solidFill>
          <a:ln w="12700">
            <a:solidFill>
              <a:srgbClr val="233047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52344" y="462686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DAYS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706624" y="491947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0D5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6.25 km / day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541264" y="1920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60" kern="0" dirty="0">
                <a:solidFill>
                  <a:srgbClr val="0E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WEEK BECOMES VISIBLE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541264" y="234086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5632704" y="2651760"/>
            <a:ext cx="566928" cy="566928"/>
          </a:xfrm>
          <a:prstGeom prst="ellipse">
            <a:avLst/>
          </a:prstGeom>
          <a:solidFill>
            <a:srgbClr val="B7F34A"/>
          </a:solidFill>
          <a:ln w="12700">
            <a:solidFill>
              <a:srgbClr val="B7F34A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32704" y="273405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541264" y="338328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5.0 km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684264" y="234086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775704" y="2651760"/>
            <a:ext cx="566928" cy="566928"/>
          </a:xfrm>
          <a:prstGeom prst="ellipse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75704" y="273405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684264" y="338328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4.0 km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827264" y="234086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918704" y="2651760"/>
            <a:ext cx="566928" cy="566928"/>
          </a:xfrm>
          <a:prstGeom prst="ellipse">
            <a:avLst/>
          </a:prstGeom>
          <a:solidFill>
            <a:srgbClr val="B7F34A"/>
          </a:solidFill>
          <a:ln w="12700">
            <a:solidFill>
              <a:srgbClr val="B7F34A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18704" y="273405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827264" y="338328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6.0 km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970264" y="234086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9061704" y="2651760"/>
            <a:ext cx="566928" cy="566928"/>
          </a:xfrm>
          <a:prstGeom prst="ellipse">
            <a:avLst/>
          </a:prstGeom>
          <a:solidFill>
            <a:srgbClr val="B7F34A"/>
          </a:solidFill>
          <a:ln w="12700">
            <a:solidFill>
              <a:srgbClr val="B7F34A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61704" y="273405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970264" y="338328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5.0 km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10113264" y="234086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10204704" y="2651760"/>
            <a:ext cx="566928" cy="566928"/>
          </a:xfrm>
          <a:prstGeom prst="ellipse">
            <a:avLst/>
          </a:prstGeom>
          <a:solidFill>
            <a:srgbClr val="B7F34A"/>
          </a:solidFill>
          <a:ln w="12700">
            <a:solidFill>
              <a:srgbClr val="B7F34A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204704" y="273405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113264" y="338328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5.0 km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541264" y="3886200"/>
            <a:ext cx="5705856" cy="84124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806440" y="40690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 is not just “did I run?”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47888" y="406908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“am I still on track for the target?”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541264" y="504748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40" kern="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PROGRESS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541264" y="5385816"/>
            <a:ext cx="5138928" cy="219456"/>
          </a:xfrm>
          <a:prstGeom prst="round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41264" y="5385816"/>
            <a:ext cx="3291840" cy="219456"/>
          </a:xfrm>
          <a:prstGeom prst="roundRect">
            <a:avLst/>
          </a:prstGeom>
          <a:solidFill>
            <a:srgbClr val="2ED3B7"/>
          </a:solidFill>
          <a:ln w="12700">
            <a:solidFill>
              <a:srgbClr val="2ED3B7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541264" y="56692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 km completed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8723376" y="566928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 km remaining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985248" y="1865376"/>
            <a:ext cx="1271016" cy="237744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FF7D6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058400" y="1874520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DERIVED EXAMPLE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10469880" y="64190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04/07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0" kern="0" dirty="0">
                <a:solidFill>
                  <a:srgbClr val="0E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MVP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deliberately starts with responsive web: prove the product loop before scaling the platform.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meeting converged on a mobile-web MVP first, with a native app and deeper device connectivity as the longer-term destination.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3310128" cy="106984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031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B7F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05740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WEB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40487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D0D5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Fastest way to make the idea tangible.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014216" y="2450592"/>
            <a:ext cx="237744" cy="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87952" y="1920240"/>
            <a:ext cx="3310128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70832" y="21031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205740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28032" y="240487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in activity from health / fitness sources.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543800" y="2450592"/>
            <a:ext cx="237744" cy="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17536" y="1920240"/>
            <a:ext cx="3310128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00416" y="21031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05740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APP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240487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more of the tracking and health experience.</a:t>
            </a:r>
            <a:endParaRPr lang="en-US" sz="93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41985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60" kern="0" dirty="0">
                <a:solidFill>
                  <a:srgbClr val="0E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MVP IS MEANT TO PROVE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" y="3767328"/>
            <a:ext cx="519379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389534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 clarity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388620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a monthly distance target become an understandable plan?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144768" y="3767328"/>
            <a:ext cx="519379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27648" y="389534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usefulness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388620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the user see what to do and whether they are on track?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658368" y="4663440"/>
            <a:ext cx="519379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1248" y="47914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 feedback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286000" y="478231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actual activity be compared with the intended routine?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144768" y="4663440"/>
            <a:ext cx="519379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27648" y="47914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tangibility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772400" y="478231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the idea be experienced as a real, deployable product?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658368" y="5650992"/>
            <a:ext cx="10680192" cy="457200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1248" y="5769864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E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SOURCE-DECLARED ARTIFACTS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127248" y="5751576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u="sng" dirty="0">
                <a:solidFill>
                  <a:srgbClr val="101828"/>
                </a:solidFill>
                <a:uFill>
                  <a:solidFill>
                    <a:srgbClr val="101828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prototype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507992" y="575157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91456" y="575157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u="sng" dirty="0">
                <a:solidFill>
                  <a:srgbClr val="101828"/>
                </a:solidFill>
                <a:uFill>
                  <a:solidFill>
                    <a:srgbClr val="101828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source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272784" y="5751576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concept inspectable beyond the meeting room.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0469880" y="64190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05/07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0" kern="0" dirty="0">
                <a:solidFill>
                  <a:srgbClr val="0E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VISION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product vision expands from personal discipline to social motivation and an ecosystem around healthy habits.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ideas were raised during discovery as expansion paths — they should be read as product vision, not as claims about the current MVP.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938528"/>
            <a:ext cx="10698480" cy="713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211226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spc="50" kern="0" dirty="0">
                <a:solidFill>
                  <a:srgbClr val="B7F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</a:t>
            </a:r>
            <a:endParaRPr lang="en-US" sz="880" dirty="0"/>
          </a:p>
        </p:txBody>
      </p:sp>
      <p:sp>
        <p:nvSpPr>
          <p:cNvPr id="7" name="Text 5"/>
          <p:cNvSpPr txBox="1"/>
          <p:nvPr/>
        </p:nvSpPr>
        <p:spPr>
          <a:xfrm>
            <a:off x="2075688" y="2075688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coaching loop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157216" y="208483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D0D5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 · plan · activity · progress · streaks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932688" y="2761488"/>
            <a:ext cx="10149840" cy="713232"/>
          </a:xfrm>
          <a:prstGeom prst="roundRect">
            <a:avLst/>
          </a:prstGeom>
          <a:solidFill>
            <a:srgbClr val="DDF7EF"/>
          </a:solidFill>
          <a:ln w="12700">
            <a:solidFill>
              <a:srgbClr val="DDF7E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33856" y="293522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spc="50" kern="0" dirty="0">
                <a:solidFill>
                  <a:srgbClr val="0E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</a:t>
            </a:r>
            <a:endParaRPr lang="en-US" sz="880" dirty="0"/>
          </a:p>
        </p:txBody>
      </p:sp>
      <p:sp>
        <p:nvSpPr>
          <p:cNvPr id="11" name="Text 9"/>
          <p:cNvSpPr txBox="1"/>
          <p:nvPr/>
        </p:nvSpPr>
        <p:spPr>
          <a:xfrm>
            <a:off x="2350008" y="2898648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Motivation with others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31536" y="290779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Invite friends · share completions · leaderboards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1207008" y="3584448"/>
            <a:ext cx="9601200" cy="71323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08176" y="375818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spc="50" kern="0" dirty="0">
                <a:solidFill>
                  <a:srgbClr val="0E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</a:t>
            </a:r>
            <a:endParaRPr lang="en-US" sz="880" dirty="0"/>
          </a:p>
        </p:txBody>
      </p:sp>
      <p:sp>
        <p:nvSpPr>
          <p:cNvPr id="15" name="Text 13"/>
          <p:cNvSpPr txBox="1"/>
          <p:nvPr/>
        </p:nvSpPr>
        <p:spPr>
          <a:xfrm>
            <a:off x="2624328" y="3721608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and belonging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705856" y="37307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Communities · badges · challenge formats · coworker competition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1481328" y="4407408"/>
            <a:ext cx="9052560" cy="713232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FF7D6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82496" y="458114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spc="50" kern="0" dirty="0">
                <a:solidFill>
                  <a:srgbClr val="0E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ECOSYSTEM</a:t>
            </a:r>
            <a:endParaRPr lang="en-US" sz="880" dirty="0"/>
          </a:p>
        </p:txBody>
      </p:sp>
      <p:sp>
        <p:nvSpPr>
          <p:cNvPr id="19" name="Text 17"/>
          <p:cNvSpPr txBox="1"/>
          <p:nvPr/>
        </p:nvSpPr>
        <p:spPr>
          <a:xfrm>
            <a:off x="2898648" y="4544568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Rewards and partnerships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80176" y="455371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programmes · points / cashback · sponsors · advertising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58368" y="5413248"/>
            <a:ext cx="10698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5586984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E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LONGER-TERM PLATFORM IDEA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3054096" y="5577840"/>
            <a:ext cx="7754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01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web → native app → deeper health data → stronger social / reward loops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38944" y="1700784"/>
            <a:ext cx="1517904" cy="237744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FF7D6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12096" y="17099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VISION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0469880" y="64190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06/07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7F34A"/>
          </a:solidFill>
          <a:ln w="12700">
            <a:solidFill>
              <a:srgbClr val="B7F34A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530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70" kern="0" dirty="0">
                <a:solidFill>
                  <a:srgbClr val="B7F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WHAT THIS PROJECT SHOWCASES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941832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broad idea was translated into</a:t>
            </a:r>
            <a:endParaRPr lang="en-US" sz="2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tangible product story.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029968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0D5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value is not just the running app. It is the end-to-end translation from user need → product logic → deployable MVP → credible expansion path.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3063240"/>
            <a:ext cx="5102352" cy="859536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18223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3255264"/>
            <a:ext cx="402336" cy="402336"/>
          </a:xfrm>
          <a:prstGeom prst="ellipse">
            <a:avLst/>
          </a:prstGeom>
          <a:solidFill>
            <a:srgbClr val="B7F34A"/>
          </a:solidFill>
          <a:ln w="12700">
            <a:solidFill>
              <a:srgbClr val="B7F34A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331927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408176" y="322783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spc="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THINKING</a:t>
            </a:r>
            <a:endParaRPr lang="en-US" sz="920" dirty="0"/>
          </a:p>
        </p:txBody>
      </p:sp>
      <p:sp>
        <p:nvSpPr>
          <p:cNvPr id="10" name="Text 8"/>
          <p:cNvSpPr txBox="1"/>
          <p:nvPr/>
        </p:nvSpPr>
        <p:spPr>
          <a:xfrm>
            <a:off x="1408176" y="3465576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7C0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an ambiguous fitness ambition into a clear user loop.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126480" y="3063240"/>
            <a:ext cx="5102352" cy="859536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18223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3255264"/>
            <a:ext cx="402336" cy="402336"/>
          </a:xfrm>
          <a:prstGeom prst="ellipse">
            <a:avLst/>
          </a:prstGeom>
          <a:solidFill>
            <a:srgbClr val="B7F34A"/>
          </a:solidFill>
          <a:ln w="12700">
            <a:solidFill>
              <a:srgbClr val="B7F34A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331927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876288" y="322783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spc="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DESIGN</a:t>
            </a:r>
            <a:endParaRPr lang="en-US" sz="920" dirty="0"/>
          </a:p>
        </p:txBody>
      </p:sp>
      <p:sp>
        <p:nvSpPr>
          <p:cNvPr id="15" name="Text 13"/>
          <p:cNvSpPr txBox="1"/>
          <p:nvPr/>
        </p:nvSpPr>
        <p:spPr>
          <a:xfrm>
            <a:off x="6876288" y="3465576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7C0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a monthly target actionable at weekly and daily level.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58368" y="4142232"/>
            <a:ext cx="5102352" cy="859536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18223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334256"/>
            <a:ext cx="402336" cy="402336"/>
          </a:xfrm>
          <a:prstGeom prst="ellipse">
            <a:avLst/>
          </a:prstGeom>
          <a:solidFill>
            <a:srgbClr val="B7F34A"/>
          </a:solidFill>
          <a:ln w="12700">
            <a:solidFill>
              <a:srgbClr val="B7F34A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39826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408176" y="430682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spc="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920" dirty="0"/>
          </a:p>
        </p:txBody>
      </p:sp>
      <p:sp>
        <p:nvSpPr>
          <p:cNvPr id="20" name="Text 18"/>
          <p:cNvSpPr txBox="1"/>
          <p:nvPr/>
        </p:nvSpPr>
        <p:spPr>
          <a:xfrm>
            <a:off x="1408176" y="4544568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sz="940">
                <a:solidFill>
                  <a:srgbClr val="B7C0CF"/>
                </a:solidFill>
                <a:latin typeface="Inter"/>
              </a:rPr>
              <a:t>Move from Gen-e2 training concept to responsive, deployed web artifact.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6126480" y="4142232"/>
            <a:ext cx="5102352" cy="859536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18223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4334256"/>
            <a:ext cx="402336" cy="402336"/>
          </a:xfrm>
          <a:prstGeom prst="ellipse">
            <a:avLst/>
          </a:prstGeom>
          <a:solidFill>
            <a:srgbClr val="B7F34A"/>
          </a:solidFill>
          <a:ln w="12700">
            <a:solidFill>
              <a:srgbClr val="B7F34A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09360" y="439826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430682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spc="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POTENTIAL</a:t>
            </a:r>
            <a:endParaRPr lang="en-US" sz="920" dirty="0"/>
          </a:p>
        </p:txBody>
      </p:sp>
      <p:sp>
        <p:nvSpPr>
          <p:cNvPr id="25" name="Text 23"/>
          <p:cNvSpPr txBox="1"/>
          <p:nvPr/>
        </p:nvSpPr>
        <p:spPr>
          <a:xfrm>
            <a:off x="6876288" y="4544568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7C0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base for integrations, community, rewards and native mobile.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658368" y="5431536"/>
            <a:ext cx="10570464" cy="530352"/>
          </a:xfrm>
          <a:prstGeom prst="roundRect">
            <a:avLst/>
          </a:prstGeom>
          <a:solidFill>
            <a:srgbClr val="B7F34A"/>
          </a:solidFill>
          <a:ln w="12700">
            <a:solidFill>
              <a:srgbClr val="B7F34A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6112" y="5577840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25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RUN: MAKE THE TARGET VISIBLE. MAKE THE PLAN PRACTICAL. MAKE PROGRESS MOTIVATING.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" y="620877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7F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</a:t>
            </a:r>
            <a:pPr indent="0" marL="0">
              <a:buNone/>
            </a:pPr>
            <a:r>
              <a:rPr lang="en-US" sz="920" u="sng" dirty="0">
                <a:solidFill>
                  <a:srgbClr val="D0D5DD"/>
                </a:solidFill>
                <a:uFill>
                  <a:solidFill>
                    <a:srgbClr val="D0D5DD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santoshmc.github.io/gorun</a:t>
            </a:r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|     </a:t>
            </a:r>
            <a:pPr indent="0" marL="0">
              <a:buNone/>
            </a:pPr>
            <a:r>
              <a:rPr lang="en-US" sz="920" b="1" dirty="0">
                <a:solidFill>
                  <a:srgbClr val="B7F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</a:t>
            </a:r>
            <a:pPr indent="0" marL="0">
              <a:buNone/>
            </a:pPr>
            <a:r>
              <a:rPr lang="en-US" sz="920" u="sng" dirty="0">
                <a:solidFill>
                  <a:srgbClr val="D0D5DD"/>
                </a:solidFill>
                <a:uFill>
                  <a:solidFill>
                    <a:srgbClr val="D0D5DD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github.com/santoshmc/gorun</a:t>
            </a:r>
            <a:endParaRPr lang="en-US" sz="920" dirty="0"/>
          </a:p>
        </p:txBody>
      </p:sp>
      <p:sp>
        <p:nvSpPr>
          <p:cNvPr id="29" name="Text 27"/>
          <p:cNvSpPr txBox="1"/>
          <p:nvPr/>
        </p:nvSpPr>
        <p:spPr>
          <a:xfrm>
            <a:off x="10625328" y="623620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07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GoRun — From Running Goal to Running Habit</dc:title>
  <dc:subject>GoRun product showcase</dc:subject>
  <dc:creator>OpenAI</dc:creator>
  <cp:lastModifiedBy>OpenAI</cp:lastModifiedBy>
  <cp:revision>1</cp:revision>
  <dcterms:created xsi:type="dcterms:W3CDTF">2026-09-22T03:29:26Z</dcterms:created>
  <dcterms:modified xsi:type="dcterms:W3CDTF">2026-09-22T03:29:26Z</dcterms:modified>
</cp:coreProperties>
</file>